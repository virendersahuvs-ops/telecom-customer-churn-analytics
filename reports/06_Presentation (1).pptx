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155C80A-3D6C-2F45-DDB7-E1DBB44DC80D}">
          <p14:sldIdLst>
            <p14:sldId id="256"/>
            <p14:sldId id="257"/>
            <p14:sldId id="258"/>
          </p14:sldIdLst>
        </p14:section>
        <p14:section name="Analysis" id="{C2A85A9A-C68E-4D37-9C7B-C8C893806F26}">
          <p14:sldIdLst>
            <p14:sldId id="259"/>
            <p14:sldId id="260"/>
            <p14:sldId id="261"/>
            <p14:sldId id="262"/>
          </p14:sldIdLst>
        </p14:section>
        <p14:section name="Wrap-up" id="{E85338EA-9E43-00B3-93EE-013242B1EEBE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284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136-44AD-A566-574A46973E85}"/>
              </c:ext>
            </c:extLst>
          </c:dPt>
          <c:dPt>
            <c:idx val="1"/>
            <c:bubble3D val="0"/>
            <c:spPr>
              <a:solidFill>
                <a:srgbClr val="9CC9EE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136-44AD-A566-574A46973E85}"/>
              </c:ext>
            </c:extLst>
          </c:dPt>
          <c:cat>
            <c:strRef>
              <c:f>Sheet1!$A$2:$A$3</c:f>
              <c:strCache>
                <c:ptCount val="2"/>
                <c:pt idx="0">
                  <c:v>Churned</c:v>
                </c:pt>
                <c:pt idx="1">
                  <c:v>Retained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1869</c:v>
                </c:pt>
                <c:pt idx="1">
                  <c:v>5174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36-44AD-A566-574A46973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8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84B"/>
                </a:solidFill>
                <a:latin typeface="+mn-lt"/>
              </a:rPr>
              <a:t>Churn rate by contract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142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F8D-40D7-9704-7E4C174A1599}"/>
              </c:ext>
            </c:extLst>
          </c:dPt>
          <c:dPt>
            <c:idx val="1"/>
            <c:invertIfNegative val="0"/>
            <c:bubble3D val="0"/>
            <c:spPr>
              <a:solidFill>
                <a:srgbClr val="9CC9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8D-40D7-9704-7E4C174A1599}"/>
              </c:ext>
            </c:extLst>
          </c:dPt>
          <c:dPt>
            <c:idx val="2"/>
            <c:invertIfNegative val="0"/>
            <c:bubble3D val="0"/>
            <c:spPr>
              <a:solidFill>
                <a:srgbClr val="9CC9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8D-40D7-9704-7E4C174A1599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4284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0.42709999999999998</c:v>
                </c:pt>
                <c:pt idx="1">
                  <c:v>0.11269999999999999</c:v>
                </c:pt>
                <c:pt idx="2">
                  <c:v>2.8299999999999999E-2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F8D-40D7-9704-7E4C174A15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E3EAF3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84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4284B"/>
                </a:solidFill>
                <a:latin typeface="+mn-lt"/>
              </a:rPr>
              <a:t>Churn rate by tenure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142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948-4E05-8FF7-481BAF14599F}"/>
              </c:ext>
            </c:extLst>
          </c:dPt>
          <c:dPt>
            <c:idx val="1"/>
            <c:invertIfNegative val="0"/>
            <c:bubble3D val="0"/>
            <c:spPr>
              <a:solidFill>
                <a:srgbClr val="9CC9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48-4E05-8FF7-481BAF14599F}"/>
              </c:ext>
            </c:extLst>
          </c:dPt>
          <c:dPt>
            <c:idx val="2"/>
            <c:invertIfNegative val="0"/>
            <c:bubble3D val="0"/>
            <c:spPr>
              <a:solidFill>
                <a:srgbClr val="9CC9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48-4E05-8FF7-481BAF14599F}"/>
              </c:ext>
            </c:extLst>
          </c:dPt>
          <c:dPt>
            <c:idx val="3"/>
            <c:invertIfNegative val="0"/>
            <c:bubble3D val="0"/>
            <c:spPr>
              <a:solidFill>
                <a:srgbClr val="9CC9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948-4E05-8FF7-481BAF14599F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4284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0–12 months</c:v>
                </c:pt>
                <c:pt idx="1">
                  <c:v>13–24 months</c:v>
                </c:pt>
                <c:pt idx="2">
                  <c:v>25–48 months</c:v>
                </c:pt>
                <c:pt idx="3">
                  <c:v>49–72 months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0.47439999999999999</c:v>
                </c:pt>
                <c:pt idx="1">
                  <c:v>0.28710000000000002</c:v>
                </c:pt>
                <c:pt idx="2">
                  <c:v>0.2039</c:v>
                </c:pt>
                <c:pt idx="3">
                  <c:v>9.5100000000000004E-2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948-4E05-8FF7-481BAF1459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E3EAF3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84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4284B"/>
                </a:solidFill>
                <a:latin typeface="+mn-lt"/>
              </a:rPr>
              <a:t>Average monthly charges by customer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MonthlyCharges</c:v>
                </c:pt>
              </c:strCache>
            </c:strRef>
          </c:tx>
          <c:spPr>
            <a:solidFill>
              <a:srgbClr val="9CC9E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7F-4C79-B09B-2A87F9C11B1C}"/>
              </c:ext>
            </c:extLst>
          </c:dPt>
          <c:dPt>
            <c:idx val="1"/>
            <c:invertIfNegative val="0"/>
            <c:bubble3D val="0"/>
            <c:spPr>
              <a:solidFill>
                <a:srgbClr val="6FA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7F-4C79-B09B-2A87F9C11B1C}"/>
              </c:ext>
            </c:extLst>
          </c:dPt>
          <c:dPt>
            <c:idx val="2"/>
            <c:invertIfNegative val="0"/>
            <c:bubble3D val="0"/>
            <c:spPr>
              <a:solidFill>
                <a:srgbClr val="142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7F-4C79-B09B-2A87F9C11B1C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4284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Retained</c:v>
                </c:pt>
                <c:pt idx="1">
                  <c:v>Overall</c:v>
                </c:pt>
                <c:pt idx="2">
                  <c:v>Churned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61.27</c:v>
                </c:pt>
                <c:pt idx="1">
                  <c:v>64.760000000000005</c:v>
                </c:pt>
                <c:pt idx="2">
                  <c:v>74.44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7F-4C79-B09B-2A87F9C11B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E3EAF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35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dataset (IBM Telco Customer Churn), tools, and student details. The donut shows the overall split: 1,869 churned vs 5,174 retained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headline KPIs. 1,869 churned of 7,043 gives 26.54%; 5,174 retained gives 73.46%. Explain why churn matters commercially.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objectives, then the six-step workflow from data collection through to business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7,043 rows, 21 columns, 7,043 unique IDs, no duplicates. 11 missing TotalCharges values were flagged and kept rather than silently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is 42.71% for month-to-month, 11.27% for one-year and 2.83% for two-year contracts. This is an observed association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falls from 47.44% in the first 12 months to 9.51% at 49-72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MonthlyCharges: retained 61.27, overall 64.76, churned 74.44. Electronic check churn 45.29%; fiber optic 41.89%. Treat these as areas for further investigation, not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practical recommendations. Stress that they come from observed patterns and should be piloted and measured before wide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single-page Executive Overview dashboard: five KPI cards, contract and tenure churn charts, monthly-charge segmentation, and slicers for Contract, Internet Service, Gender and Tenure Group. Replace the placeholder with a real screenshot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four key findings, restate that results are descriptive associations, then close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36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Virender Sahu | Delhi Technological University (DTU) | Roll No. 23/EE/286 | 20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411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4"/>
                </a:solidFill>
              </a:rPr>
              <a:t>DATA SCIENCE PORTFOLIO PROJECT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77724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Customer Churn &amp; Retention Analytics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45720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4"/>
                </a:solidFill>
              </a:rPr>
              <a:t>Data-Driven Insights for Customer Retention</a:t>
            </a:r>
            <a:endParaRPr lang="en-US" sz="1700" dirty="0"/>
          </a:p>
        </p:txBody>
      </p:sp>
      <p:sp>
        <p:nvSpPr>
          <p:cNvPr id="5" name="Dataset and tools"/>
          <p:cNvSpPr txBox="1"/>
          <p:nvPr/>
        </p:nvSpPr>
        <p:spPr>
          <a:xfrm>
            <a:off x="457200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Dataset: </a:t>
            </a:r>
            <a:r>
              <a:rPr lang="en-US" sz="1400" dirty="0">
                <a:solidFill>
                  <a:schemeClr val="tx1"/>
                </a:solidFill>
              </a:rPr>
              <a:t>IBM Telco Customer Churn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Tools: </a:t>
            </a:r>
            <a:r>
              <a:rPr lang="en-US" sz="1400" dirty="0">
                <a:solidFill>
                  <a:schemeClr val="tx1"/>
                </a:solidFill>
              </a:rPr>
              <a:t>Excel, SQL, Python, Power BI</a:t>
            </a:r>
            <a:endParaRPr lang="en-US" sz="1400" dirty="0"/>
          </a:p>
        </p:txBody>
      </p:sp>
      <p:sp>
        <p:nvSpPr>
          <p:cNvPr id="6" name="Chart panel"/>
          <p:cNvSpPr/>
          <p:nvPr/>
        </p:nvSpPr>
        <p:spPr>
          <a:xfrm>
            <a:off x="5806440" y="411480"/>
            <a:ext cx="2880360" cy="3246120"/>
          </a:xfrm>
          <a:prstGeom prst="roundRect">
            <a:avLst>
              <a:gd name="adj" fmla="val 3810"/>
            </a:avLst>
          </a:prstGeom>
          <a:solidFill>
            <a:srgbClr val="EEF5FC"/>
          </a:solidFill>
          <a:ln/>
        </p:spPr>
      </p:sp>
      <p:graphicFrame>
        <p:nvGraphicFramePr>
          <p:cNvPr id="7" name="Churn donut"/>
          <p:cNvGraphicFramePr/>
          <p:nvPr/>
        </p:nvGraphicFramePr>
        <p:xfrm>
          <a:off x="5943600" y="548640"/>
          <a:ext cx="26060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Donut centre"/>
          <p:cNvSpPr txBox="1"/>
          <p:nvPr/>
        </p:nvSpPr>
        <p:spPr>
          <a:xfrm>
            <a:off x="6400800" y="14173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26.54%</a:t>
            </a:r>
            <a:endParaRPr lang="en-US" sz="2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churn rate</a:t>
            </a:r>
            <a:endParaRPr lang="en-US" sz="2400" dirty="0"/>
          </a:p>
        </p:txBody>
      </p:sp>
      <p:sp>
        <p:nvSpPr>
          <p:cNvPr id="9" name="Key churned dot"/>
          <p:cNvSpPr/>
          <p:nvPr/>
        </p:nvSpPr>
        <p:spPr>
          <a:xfrm>
            <a:off x="6080760" y="3017520"/>
            <a:ext cx="128016" cy="128016"/>
          </a:xfrm>
          <a:prstGeom prst="ellipse">
            <a:avLst/>
          </a:prstGeom>
          <a:solidFill>
            <a:srgbClr val="14284B"/>
          </a:solidFill>
          <a:ln/>
        </p:spPr>
      </p:sp>
      <p:sp>
        <p:nvSpPr>
          <p:cNvPr id="10" name="Key churned"/>
          <p:cNvSpPr txBox="1"/>
          <p:nvPr/>
        </p:nvSpPr>
        <p:spPr>
          <a:xfrm>
            <a:off x="6291072" y="2944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Churned: 1,869</a:t>
            </a:r>
            <a:endParaRPr lang="en-US" sz="1200" dirty="0"/>
          </a:p>
        </p:txBody>
      </p:sp>
      <p:sp>
        <p:nvSpPr>
          <p:cNvPr id="11" name="Key retained dot"/>
          <p:cNvSpPr/>
          <p:nvPr/>
        </p:nvSpPr>
        <p:spPr>
          <a:xfrm>
            <a:off x="6080760" y="3337560"/>
            <a:ext cx="128016" cy="128016"/>
          </a:xfrm>
          <a:prstGeom prst="ellipse">
            <a:avLst/>
          </a:prstGeom>
          <a:solidFill>
            <a:srgbClr val="9CC9EE"/>
          </a:solidFill>
          <a:ln/>
        </p:spPr>
      </p:sp>
      <p:sp>
        <p:nvSpPr>
          <p:cNvPr id="12" name="Key retained"/>
          <p:cNvSpPr txBox="1"/>
          <p:nvPr/>
        </p:nvSpPr>
        <p:spPr>
          <a:xfrm>
            <a:off x="6291072" y="3264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Retained: 5,174</a:t>
            </a:r>
            <a:endParaRPr lang="en-US" sz="1200" dirty="0"/>
          </a:p>
        </p:txBody>
      </p:sp>
      <p:sp>
        <p:nvSpPr>
          <p:cNvPr id="13" name="Student card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CE8EF"/>
          </a:solidFill>
          <a:ln/>
        </p:spPr>
      </p:sp>
      <p:sp>
        <p:nvSpPr>
          <p:cNvPr id="14" name="Label STUDENT"/>
          <p:cNvSpPr txBox="1"/>
          <p:nvPr/>
        </p:nvSpPr>
        <p:spPr>
          <a:xfrm>
            <a:off x="640080" y="40416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STUDENT</a:t>
            </a:r>
            <a:endParaRPr lang="en-US" sz="1000" dirty="0"/>
          </a:p>
        </p:txBody>
      </p:sp>
      <p:sp>
        <p:nvSpPr>
          <p:cNvPr id="15" name="Value STUDENT"/>
          <p:cNvSpPr txBox="1"/>
          <p:nvPr/>
        </p:nvSpPr>
        <p:spPr>
          <a:xfrm>
            <a:off x="640080" y="4279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Virender Sahu</a:t>
            </a:r>
            <a:endParaRPr lang="en-US" sz="1300" dirty="0"/>
          </a:p>
        </p:txBody>
      </p:sp>
      <p:sp>
        <p:nvSpPr>
          <p:cNvPr id="16" name="Label COLLEGE"/>
          <p:cNvSpPr txBox="1"/>
          <p:nvPr/>
        </p:nvSpPr>
        <p:spPr>
          <a:xfrm>
            <a:off x="2377440" y="4041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COLLEGE</a:t>
            </a:r>
            <a:endParaRPr lang="en-US" sz="1000" dirty="0"/>
          </a:p>
        </p:txBody>
      </p:sp>
      <p:sp>
        <p:nvSpPr>
          <p:cNvPr id="17" name="Value COLLEGE"/>
          <p:cNvSpPr txBox="1"/>
          <p:nvPr/>
        </p:nvSpPr>
        <p:spPr>
          <a:xfrm>
            <a:off x="2377440" y="4279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Delhi Technological University (DTU)</a:t>
            </a:r>
            <a:endParaRPr lang="en-US" sz="1300" dirty="0"/>
          </a:p>
        </p:txBody>
      </p:sp>
      <p:sp>
        <p:nvSpPr>
          <p:cNvPr id="18" name="Label ROLL NUMBER"/>
          <p:cNvSpPr txBox="1"/>
          <p:nvPr/>
        </p:nvSpPr>
        <p:spPr>
          <a:xfrm>
            <a:off x="6035040" y="40416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ROLL NUMBER</a:t>
            </a:r>
            <a:endParaRPr lang="en-US" sz="1000" dirty="0"/>
          </a:p>
        </p:txBody>
      </p:sp>
      <p:sp>
        <p:nvSpPr>
          <p:cNvPr id="19" name="Value ROLL NUMBER"/>
          <p:cNvSpPr txBox="1"/>
          <p:nvPr/>
        </p:nvSpPr>
        <p:spPr>
          <a:xfrm>
            <a:off x="6035040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23/EE/286</a:t>
            </a:r>
            <a:endParaRPr lang="en-US" sz="1300" dirty="0"/>
          </a:p>
        </p:txBody>
      </p:sp>
      <p:sp>
        <p:nvSpPr>
          <p:cNvPr id="20" name="Label PRESENTATION DATE"/>
          <p:cNvSpPr txBox="1"/>
          <p:nvPr/>
        </p:nvSpPr>
        <p:spPr>
          <a:xfrm>
            <a:off x="7315200" y="40416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PRESENTATION DATE</a:t>
            </a:r>
            <a:endParaRPr lang="en-US" sz="1000" dirty="0"/>
          </a:p>
        </p:txBody>
      </p:sp>
      <p:sp>
        <p:nvSpPr>
          <p:cNvPr id="21" name="Value PRESENTATION DATE"/>
          <p:cNvSpPr txBox="1"/>
          <p:nvPr/>
        </p:nvSpPr>
        <p:spPr>
          <a:xfrm>
            <a:off x="7315200" y="4279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2"/>
                </a:solidFill>
              </a:rPr>
              <a:t>20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3" name="KPI card Total Customers"/>
          <p:cNvSpPr/>
          <p:nvPr/>
        </p:nvSpPr>
        <p:spPr>
          <a:xfrm>
            <a:off x="457200" y="1188720"/>
            <a:ext cx="1554480" cy="1188720"/>
          </a:xfrm>
          <a:prstGeom prst="roundRect">
            <a:avLst>
              <a:gd name="adj" fmla="val 9231"/>
            </a:avLst>
          </a:prstGeom>
          <a:solidFill>
            <a:srgbClr val="DCEBFA"/>
          </a:solidFill>
          <a:ln/>
        </p:spPr>
      </p:sp>
      <p:sp>
        <p:nvSpPr>
          <p:cNvPr id="4" name="KPI value Total Customers"/>
          <p:cNvSpPr txBox="1"/>
          <p:nvPr/>
        </p:nvSpPr>
        <p:spPr>
          <a:xfrm>
            <a:off x="45720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7,043</a:t>
            </a:r>
            <a:endParaRPr lang="en-US" sz="2800" dirty="0"/>
          </a:p>
        </p:txBody>
      </p:sp>
      <p:sp>
        <p:nvSpPr>
          <p:cNvPr id="5" name="KPI label Total Customers"/>
          <p:cNvSpPr txBox="1"/>
          <p:nvPr/>
        </p:nvSpPr>
        <p:spPr>
          <a:xfrm>
            <a:off x="45720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Total Customers</a:t>
            </a:r>
            <a:endParaRPr lang="en-US" sz="1200" dirty="0"/>
          </a:p>
        </p:txBody>
      </p:sp>
      <p:sp>
        <p:nvSpPr>
          <p:cNvPr id="6" name="KPI card Churned Customers"/>
          <p:cNvSpPr/>
          <p:nvPr/>
        </p:nvSpPr>
        <p:spPr>
          <a:xfrm>
            <a:off x="2125980" y="1188720"/>
            <a:ext cx="1554480" cy="1188720"/>
          </a:xfrm>
          <a:prstGeom prst="roundRect">
            <a:avLst>
              <a:gd name="adj" fmla="val 9231"/>
            </a:avLst>
          </a:prstGeom>
          <a:solidFill>
            <a:srgbClr val="DCEBFA"/>
          </a:solidFill>
          <a:ln/>
        </p:spPr>
      </p:sp>
      <p:sp>
        <p:nvSpPr>
          <p:cNvPr id="7" name="KPI value Churned Customers"/>
          <p:cNvSpPr txBox="1"/>
          <p:nvPr/>
        </p:nvSpPr>
        <p:spPr>
          <a:xfrm>
            <a:off x="212598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1,869</a:t>
            </a:r>
            <a:endParaRPr lang="en-US" sz="2800" dirty="0"/>
          </a:p>
        </p:txBody>
      </p:sp>
      <p:sp>
        <p:nvSpPr>
          <p:cNvPr id="8" name="KPI label Churned Customers"/>
          <p:cNvSpPr txBox="1"/>
          <p:nvPr/>
        </p:nvSpPr>
        <p:spPr>
          <a:xfrm>
            <a:off x="212598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Churned Customers</a:t>
            </a:r>
            <a:endParaRPr lang="en-US" sz="1200" dirty="0"/>
          </a:p>
        </p:txBody>
      </p:sp>
      <p:sp>
        <p:nvSpPr>
          <p:cNvPr id="9" name="KPI card Retained Customers"/>
          <p:cNvSpPr/>
          <p:nvPr/>
        </p:nvSpPr>
        <p:spPr>
          <a:xfrm>
            <a:off x="3794760" y="1188720"/>
            <a:ext cx="1554480" cy="1188720"/>
          </a:xfrm>
          <a:prstGeom prst="roundRect">
            <a:avLst>
              <a:gd name="adj" fmla="val 9231"/>
            </a:avLst>
          </a:prstGeom>
          <a:solidFill>
            <a:srgbClr val="DCEBFA"/>
          </a:solidFill>
          <a:ln/>
        </p:spPr>
      </p:sp>
      <p:sp>
        <p:nvSpPr>
          <p:cNvPr id="10" name="KPI value Retained Customers"/>
          <p:cNvSpPr txBox="1"/>
          <p:nvPr/>
        </p:nvSpPr>
        <p:spPr>
          <a:xfrm>
            <a:off x="379476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5,174</a:t>
            </a:r>
            <a:endParaRPr lang="en-US" sz="2800" dirty="0"/>
          </a:p>
        </p:txBody>
      </p:sp>
      <p:sp>
        <p:nvSpPr>
          <p:cNvPr id="11" name="KPI label Retained Customers"/>
          <p:cNvSpPr txBox="1"/>
          <p:nvPr/>
        </p:nvSpPr>
        <p:spPr>
          <a:xfrm>
            <a:off x="379476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Retained Customers</a:t>
            </a:r>
            <a:endParaRPr lang="en-US" sz="1200" dirty="0"/>
          </a:p>
        </p:txBody>
      </p:sp>
      <p:sp>
        <p:nvSpPr>
          <p:cNvPr id="12" name="KPI card Churn Rate"/>
          <p:cNvSpPr/>
          <p:nvPr/>
        </p:nvSpPr>
        <p:spPr>
          <a:xfrm>
            <a:off x="5463540" y="1188720"/>
            <a:ext cx="1554480" cy="1188720"/>
          </a:xfrm>
          <a:prstGeom prst="roundRect">
            <a:avLst>
              <a:gd name="adj" fmla="val 9231"/>
            </a:avLst>
          </a:prstGeom>
          <a:solidFill>
            <a:srgbClr val="F4B6CB"/>
          </a:solidFill>
          <a:ln/>
        </p:spPr>
      </p:sp>
      <p:sp>
        <p:nvSpPr>
          <p:cNvPr id="13" name="KPI value Churn Rate"/>
          <p:cNvSpPr txBox="1"/>
          <p:nvPr/>
        </p:nvSpPr>
        <p:spPr>
          <a:xfrm>
            <a:off x="546354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26.54%</a:t>
            </a:r>
            <a:endParaRPr lang="en-US" sz="2800" dirty="0"/>
          </a:p>
        </p:txBody>
      </p:sp>
      <p:sp>
        <p:nvSpPr>
          <p:cNvPr id="14" name="KPI label Churn Rate"/>
          <p:cNvSpPr txBox="1"/>
          <p:nvPr/>
        </p:nvSpPr>
        <p:spPr>
          <a:xfrm>
            <a:off x="54635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Churn Rate</a:t>
            </a:r>
            <a:endParaRPr lang="en-US" sz="1200" dirty="0"/>
          </a:p>
        </p:txBody>
      </p:sp>
      <p:sp>
        <p:nvSpPr>
          <p:cNvPr id="15" name="KPI card Retention Rate"/>
          <p:cNvSpPr/>
          <p:nvPr/>
        </p:nvSpPr>
        <p:spPr>
          <a:xfrm>
            <a:off x="7132320" y="1188720"/>
            <a:ext cx="1554480" cy="1188720"/>
          </a:xfrm>
          <a:prstGeom prst="roundRect">
            <a:avLst>
              <a:gd name="adj" fmla="val 9231"/>
            </a:avLst>
          </a:prstGeom>
          <a:solidFill>
            <a:srgbClr val="DCEBFA"/>
          </a:solidFill>
          <a:ln/>
        </p:spPr>
      </p:sp>
      <p:sp>
        <p:nvSpPr>
          <p:cNvPr id="16" name="KPI value Retention Rate"/>
          <p:cNvSpPr txBox="1"/>
          <p:nvPr/>
        </p:nvSpPr>
        <p:spPr>
          <a:xfrm>
            <a:off x="7132320" y="1325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73.46%</a:t>
            </a:r>
            <a:endParaRPr lang="en-US" sz="2800" dirty="0"/>
          </a:p>
        </p:txBody>
      </p:sp>
      <p:sp>
        <p:nvSpPr>
          <p:cNvPr id="17" name="KPI label Retention Rate"/>
          <p:cNvSpPr txBox="1"/>
          <p:nvPr/>
        </p:nvSpPr>
        <p:spPr>
          <a:xfrm>
            <a:off x="713232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Retention Rate</a:t>
            </a:r>
            <a:endParaRPr lang="en-US" sz="1200" dirty="0"/>
          </a:p>
        </p:txBody>
      </p:sp>
      <p:sp>
        <p:nvSpPr>
          <p:cNvPr id="18" name="Why churn matters card"/>
          <p:cNvSpPr/>
          <p:nvPr/>
        </p:nvSpPr>
        <p:spPr>
          <a:xfrm>
            <a:off x="457200" y="2697480"/>
            <a:ext cx="8229600" cy="1828800"/>
          </a:xfrm>
          <a:prstGeom prst="roundRect">
            <a:avLst>
              <a:gd name="adj" fmla="val 6000"/>
            </a:avLst>
          </a:prstGeom>
          <a:solidFill>
            <a:srgbClr val="EEF5FC"/>
          </a:solidFill>
          <a:ln/>
        </p:spPr>
      </p:sp>
      <p:sp>
        <p:nvSpPr>
          <p:cNvPr id="19" name="Why heading"/>
          <p:cNvSpPr txBox="1"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churn matters to a telecom business</a:t>
            </a:r>
            <a:endParaRPr lang="en-US" sz="1800" dirty="0"/>
          </a:p>
        </p:txBody>
      </p:sp>
      <p:sp>
        <p:nvSpPr>
          <p:cNvPr id="20" name="Why bullets"/>
          <p:cNvSpPr txBox="1"/>
          <p:nvPr/>
        </p:nvSpPr>
        <p:spPr>
          <a:xfrm>
            <a:off x="731520" y="32461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Roughly one in four customers in this dataset churned (26.54%), which means lost recurring revenue.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Retaining existing customers is generally more cost-effective than acquiring replacements.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Knowing which segments churn most lets teams focus retention effort where it matters.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Project Objectives &amp; Workflow</a:t>
            </a:r>
            <a:endParaRPr lang="en-US" sz="2800" dirty="0"/>
          </a:p>
        </p:txBody>
      </p:sp>
      <p:sp>
        <p:nvSpPr>
          <p:cNvPr id="3" name="Objectives label"/>
          <p:cNvSpPr txBox="1"/>
          <p:nvPr/>
        </p:nvSpPr>
        <p:spPr>
          <a:xfrm>
            <a:off x="45720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4" name="Objective card 1"/>
          <p:cNvSpPr/>
          <p:nvPr/>
        </p:nvSpPr>
        <p:spPr>
          <a:xfrm>
            <a:off x="457200" y="1371600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EEF5FC"/>
          </a:solidFill>
          <a:ln/>
        </p:spPr>
      </p:sp>
      <p:sp>
        <p:nvSpPr>
          <p:cNvPr id="5" name="Objective number 1"/>
          <p:cNvSpPr/>
          <p:nvPr/>
        </p:nvSpPr>
        <p:spPr>
          <a:xfrm>
            <a:off x="594360" y="1517904"/>
            <a:ext cx="365760" cy="36576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Objective text 1"/>
          <p:cNvSpPr txBox="1"/>
          <p:nvPr/>
        </p:nvSpPr>
        <p:spPr>
          <a:xfrm>
            <a:off x="1097280" y="142646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Measure overall customer churn.</a:t>
            </a:r>
            <a:endParaRPr lang="en-US" sz="1300" dirty="0"/>
          </a:p>
        </p:txBody>
      </p:sp>
      <p:sp>
        <p:nvSpPr>
          <p:cNvPr id="7" name="Objective card 2"/>
          <p:cNvSpPr/>
          <p:nvPr/>
        </p:nvSpPr>
        <p:spPr>
          <a:xfrm>
            <a:off x="4663440" y="1371600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FCE8EF"/>
          </a:solidFill>
          <a:ln/>
        </p:spPr>
      </p:sp>
      <p:sp>
        <p:nvSpPr>
          <p:cNvPr id="8" name="Objective number 2"/>
          <p:cNvSpPr/>
          <p:nvPr/>
        </p:nvSpPr>
        <p:spPr>
          <a:xfrm>
            <a:off x="4800600" y="1517904"/>
            <a:ext cx="365760" cy="36576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Objective text 2"/>
          <p:cNvSpPr txBox="1"/>
          <p:nvPr/>
        </p:nvSpPr>
        <p:spPr>
          <a:xfrm>
            <a:off x="5303520" y="142646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Identify high-risk customer segments.</a:t>
            </a:r>
            <a:endParaRPr lang="en-US" sz="1300" dirty="0"/>
          </a:p>
        </p:txBody>
      </p:sp>
      <p:sp>
        <p:nvSpPr>
          <p:cNvPr id="10" name="Objective card 3"/>
          <p:cNvSpPr/>
          <p:nvPr/>
        </p:nvSpPr>
        <p:spPr>
          <a:xfrm>
            <a:off x="457200" y="2148840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EEF5FC"/>
          </a:solidFill>
          <a:ln/>
        </p:spPr>
      </p:sp>
      <p:sp>
        <p:nvSpPr>
          <p:cNvPr id="11" name="Objective number 3"/>
          <p:cNvSpPr/>
          <p:nvPr/>
        </p:nvSpPr>
        <p:spPr>
          <a:xfrm>
            <a:off x="594360" y="2295144"/>
            <a:ext cx="365760" cy="36576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Objective text 3"/>
          <p:cNvSpPr txBox="1"/>
          <p:nvPr/>
        </p:nvSpPr>
        <p:spPr>
          <a:xfrm>
            <a:off x="1097280" y="22037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Analyze contract types, tenure, monthly charges, and services.</a:t>
            </a:r>
            <a:endParaRPr lang="en-US" sz="1300" dirty="0"/>
          </a:p>
        </p:txBody>
      </p:sp>
      <p:sp>
        <p:nvSpPr>
          <p:cNvPr id="13" name="Objective card 4"/>
          <p:cNvSpPr/>
          <p:nvPr/>
        </p:nvSpPr>
        <p:spPr>
          <a:xfrm>
            <a:off x="4663440" y="2148840"/>
            <a:ext cx="4023360" cy="658368"/>
          </a:xfrm>
          <a:prstGeom prst="roundRect">
            <a:avLst>
              <a:gd name="adj" fmla="val 16667"/>
            </a:avLst>
          </a:prstGeom>
          <a:solidFill>
            <a:srgbClr val="FCE8EF"/>
          </a:solidFill>
          <a:ln/>
        </p:spPr>
      </p:sp>
      <p:sp>
        <p:nvSpPr>
          <p:cNvPr id="14" name="Objective number 4"/>
          <p:cNvSpPr/>
          <p:nvPr/>
        </p:nvSpPr>
        <p:spPr>
          <a:xfrm>
            <a:off x="4800600" y="2295144"/>
            <a:ext cx="365760" cy="36576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Objective text 4"/>
          <p:cNvSpPr txBox="1"/>
          <p:nvPr/>
        </p:nvSpPr>
        <p:spPr>
          <a:xfrm>
            <a:off x="5303520" y="22037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Develop actionable customer retention recommendations.</a:t>
            </a:r>
            <a:endParaRPr lang="en-US" sz="1300" dirty="0"/>
          </a:p>
        </p:txBody>
      </p:sp>
      <p:sp>
        <p:nvSpPr>
          <p:cNvPr id="16" name="Workflow label"/>
          <p:cNvSpPr txBox="1"/>
          <p:nvPr/>
        </p:nvSpPr>
        <p:spPr>
          <a:xfrm>
            <a:off x="457200" y="3017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WORKFLOW</a:t>
            </a:r>
            <a:endParaRPr lang="en-US" sz="1200" dirty="0"/>
          </a:p>
        </p:txBody>
      </p:sp>
      <p:sp>
        <p:nvSpPr>
          <p:cNvPr id="17" name="Workflow connector"/>
          <p:cNvSpPr/>
          <p:nvPr/>
        </p:nvSpPr>
        <p:spPr>
          <a:xfrm>
            <a:off x="1074420" y="3566160"/>
            <a:ext cx="6995160" cy="0"/>
          </a:xfrm>
          <a:prstGeom prst="line">
            <a:avLst/>
          </a:prstGeom>
          <a:noFill/>
          <a:ln w="25400">
            <a:solidFill>
              <a:srgbClr val="9CC9EE"/>
            </a:solidFill>
            <a:prstDash val="solid"/>
          </a:ln>
        </p:spPr>
      </p:sp>
      <p:sp>
        <p:nvSpPr>
          <p:cNvPr id="18" name="Workflow step 1"/>
          <p:cNvSpPr/>
          <p:nvPr/>
        </p:nvSpPr>
        <p:spPr>
          <a:xfrm>
            <a:off x="457200" y="374904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EEF5FC"/>
          </a:solidFill>
          <a:ln/>
        </p:spPr>
      </p:sp>
      <p:sp>
        <p:nvSpPr>
          <p:cNvPr id="19" name="Workflow text 1"/>
          <p:cNvSpPr txBox="1"/>
          <p:nvPr/>
        </p:nvSpPr>
        <p:spPr>
          <a:xfrm>
            <a:off x="457200" y="3794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20" name="Workflow number 1"/>
          <p:cNvSpPr/>
          <p:nvPr/>
        </p:nvSpPr>
        <p:spPr>
          <a:xfrm>
            <a:off x="891540" y="3383280"/>
            <a:ext cx="365760" cy="36576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Workflow step 2"/>
          <p:cNvSpPr/>
          <p:nvPr/>
        </p:nvSpPr>
        <p:spPr>
          <a:xfrm>
            <a:off x="1856232" y="374904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EEF5FC"/>
          </a:solidFill>
          <a:ln/>
        </p:spPr>
      </p:sp>
      <p:sp>
        <p:nvSpPr>
          <p:cNvPr id="22" name="Workflow text 2"/>
          <p:cNvSpPr txBox="1"/>
          <p:nvPr/>
        </p:nvSpPr>
        <p:spPr>
          <a:xfrm>
            <a:off x="1856232" y="3794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23" name="Workflow number 2"/>
          <p:cNvSpPr/>
          <p:nvPr/>
        </p:nvSpPr>
        <p:spPr>
          <a:xfrm>
            <a:off x="2290572" y="3383280"/>
            <a:ext cx="365760" cy="36576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Workflow step 3"/>
          <p:cNvSpPr/>
          <p:nvPr/>
        </p:nvSpPr>
        <p:spPr>
          <a:xfrm>
            <a:off x="3255264" y="374904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EEF5FC"/>
          </a:solidFill>
          <a:ln/>
        </p:spPr>
      </p:sp>
      <p:sp>
        <p:nvSpPr>
          <p:cNvPr id="25" name="Workflow text 3"/>
          <p:cNvSpPr txBox="1"/>
          <p:nvPr/>
        </p:nvSpPr>
        <p:spPr>
          <a:xfrm>
            <a:off x="3255264" y="3794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Exploratory Data Analysis</a:t>
            </a:r>
            <a:endParaRPr lang="en-US" sz="1100" dirty="0"/>
          </a:p>
        </p:txBody>
      </p:sp>
      <p:sp>
        <p:nvSpPr>
          <p:cNvPr id="26" name="Workflow number 3"/>
          <p:cNvSpPr/>
          <p:nvPr/>
        </p:nvSpPr>
        <p:spPr>
          <a:xfrm>
            <a:off x="3689604" y="3383280"/>
            <a:ext cx="365760" cy="36576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7" name="Workflow step 4"/>
          <p:cNvSpPr/>
          <p:nvPr/>
        </p:nvSpPr>
        <p:spPr>
          <a:xfrm>
            <a:off x="4654296" y="374904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EEF5FC"/>
          </a:solidFill>
          <a:ln/>
        </p:spPr>
      </p:sp>
      <p:sp>
        <p:nvSpPr>
          <p:cNvPr id="28" name="Workflow text 4"/>
          <p:cNvSpPr txBox="1"/>
          <p:nvPr/>
        </p:nvSpPr>
        <p:spPr>
          <a:xfrm>
            <a:off x="4654296" y="3794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SQL Analysis</a:t>
            </a:r>
            <a:endParaRPr lang="en-US" sz="1100" dirty="0"/>
          </a:p>
        </p:txBody>
      </p:sp>
      <p:sp>
        <p:nvSpPr>
          <p:cNvPr id="29" name="Workflow number 4"/>
          <p:cNvSpPr/>
          <p:nvPr/>
        </p:nvSpPr>
        <p:spPr>
          <a:xfrm>
            <a:off x="5088636" y="3383280"/>
            <a:ext cx="365760" cy="36576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Workflow step 5"/>
          <p:cNvSpPr/>
          <p:nvPr/>
        </p:nvSpPr>
        <p:spPr>
          <a:xfrm>
            <a:off x="6053328" y="374904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EEF5FC"/>
          </a:solidFill>
          <a:ln/>
        </p:spPr>
      </p:sp>
      <p:sp>
        <p:nvSpPr>
          <p:cNvPr id="31" name="Workflow text 5"/>
          <p:cNvSpPr txBox="1"/>
          <p:nvPr/>
        </p:nvSpPr>
        <p:spPr>
          <a:xfrm>
            <a:off x="6053328" y="3794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Power BI Dashboard</a:t>
            </a:r>
            <a:endParaRPr lang="en-US" sz="1100" dirty="0"/>
          </a:p>
        </p:txBody>
      </p:sp>
      <p:sp>
        <p:nvSpPr>
          <p:cNvPr id="32" name="Workflow number 5"/>
          <p:cNvSpPr/>
          <p:nvPr/>
        </p:nvSpPr>
        <p:spPr>
          <a:xfrm>
            <a:off x="6487668" y="3383280"/>
            <a:ext cx="365760" cy="36576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Workflow step 6"/>
          <p:cNvSpPr/>
          <p:nvPr/>
        </p:nvSpPr>
        <p:spPr>
          <a:xfrm>
            <a:off x="7452360" y="3749040"/>
            <a:ext cx="1234440" cy="822960"/>
          </a:xfrm>
          <a:prstGeom prst="roundRect">
            <a:avLst>
              <a:gd name="adj" fmla="val 13333"/>
            </a:avLst>
          </a:prstGeom>
          <a:solidFill>
            <a:srgbClr val="FCE8EF"/>
          </a:solidFill>
          <a:ln/>
        </p:spPr>
      </p:sp>
      <p:sp>
        <p:nvSpPr>
          <p:cNvPr id="34" name="Workflow text 6"/>
          <p:cNvSpPr txBox="1"/>
          <p:nvPr/>
        </p:nvSpPr>
        <p:spPr>
          <a:xfrm>
            <a:off x="7452360" y="37947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Business Recommendations</a:t>
            </a:r>
            <a:endParaRPr lang="en-US" sz="1100" dirty="0"/>
          </a:p>
        </p:txBody>
      </p:sp>
      <p:sp>
        <p:nvSpPr>
          <p:cNvPr id="35" name="Workflow number 6"/>
          <p:cNvSpPr/>
          <p:nvPr/>
        </p:nvSpPr>
        <p:spPr>
          <a:xfrm>
            <a:off x="7886700" y="3383280"/>
            <a:ext cx="365760" cy="36576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Dataset &amp; Data Quality</a:t>
            </a:r>
            <a:endParaRPr lang="en-US" sz="2800" dirty="0"/>
          </a:p>
        </p:txBody>
      </p:sp>
      <p:sp>
        <p:nvSpPr>
          <p:cNvPr id="3" name="Stat card Total records"/>
          <p:cNvSpPr/>
          <p:nvPr/>
        </p:nvSpPr>
        <p:spPr>
          <a:xfrm>
            <a:off x="457200" y="11887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EEF5FC"/>
          </a:solidFill>
          <a:ln/>
        </p:spPr>
      </p:sp>
      <p:sp>
        <p:nvSpPr>
          <p:cNvPr id="4" name="Stat value Total records"/>
          <p:cNvSpPr txBox="1"/>
          <p:nvPr/>
        </p:nvSpPr>
        <p:spPr>
          <a:xfrm>
            <a:off x="457200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7,043</a:t>
            </a:r>
            <a:endParaRPr lang="en-US" sz="2800" dirty="0"/>
          </a:p>
        </p:txBody>
      </p:sp>
      <p:sp>
        <p:nvSpPr>
          <p:cNvPr id="5" name="Stat label Total records"/>
          <p:cNvSpPr txBox="1"/>
          <p:nvPr/>
        </p:nvSpPr>
        <p:spPr>
          <a:xfrm>
            <a:off x="45720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Total records</a:t>
            </a:r>
            <a:endParaRPr lang="en-US" sz="1200" dirty="0"/>
          </a:p>
        </p:txBody>
      </p:sp>
      <p:sp>
        <p:nvSpPr>
          <p:cNvPr id="6" name="Stat card Total columns"/>
          <p:cNvSpPr/>
          <p:nvPr/>
        </p:nvSpPr>
        <p:spPr>
          <a:xfrm>
            <a:off x="2560320" y="11887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EEF5FC"/>
          </a:solidFill>
          <a:ln/>
        </p:spPr>
      </p:sp>
      <p:sp>
        <p:nvSpPr>
          <p:cNvPr id="7" name="Stat value Total columns"/>
          <p:cNvSpPr txBox="1"/>
          <p:nvPr/>
        </p:nvSpPr>
        <p:spPr>
          <a:xfrm>
            <a:off x="2560320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21</a:t>
            </a:r>
            <a:endParaRPr lang="en-US" sz="2800" dirty="0"/>
          </a:p>
        </p:txBody>
      </p:sp>
      <p:sp>
        <p:nvSpPr>
          <p:cNvPr id="8" name="Stat label Total columns"/>
          <p:cNvSpPr txBox="1"/>
          <p:nvPr/>
        </p:nvSpPr>
        <p:spPr>
          <a:xfrm>
            <a:off x="25603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Total columns</a:t>
            </a:r>
            <a:endParaRPr lang="en-US" sz="1200" dirty="0"/>
          </a:p>
        </p:txBody>
      </p:sp>
      <p:sp>
        <p:nvSpPr>
          <p:cNvPr id="9" name="Stat card Unique customer IDs"/>
          <p:cNvSpPr/>
          <p:nvPr/>
        </p:nvSpPr>
        <p:spPr>
          <a:xfrm>
            <a:off x="457200" y="237744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EEF5FC"/>
          </a:solidFill>
          <a:ln/>
        </p:spPr>
      </p:sp>
      <p:sp>
        <p:nvSpPr>
          <p:cNvPr id="10" name="Stat value Unique customer IDs"/>
          <p:cNvSpPr txBox="1"/>
          <p:nvPr/>
        </p:nvSpPr>
        <p:spPr>
          <a:xfrm>
            <a:off x="457200" y="2468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7,043</a:t>
            </a:r>
            <a:endParaRPr lang="en-US" sz="2800" dirty="0"/>
          </a:p>
        </p:txBody>
      </p:sp>
      <p:sp>
        <p:nvSpPr>
          <p:cNvPr id="11" name="Stat label Unique customer IDs"/>
          <p:cNvSpPr txBox="1"/>
          <p:nvPr/>
        </p:nvSpPr>
        <p:spPr>
          <a:xfrm>
            <a:off x="457200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Unique customer IDs</a:t>
            </a:r>
            <a:endParaRPr lang="en-US" sz="1200" dirty="0"/>
          </a:p>
        </p:txBody>
      </p:sp>
      <p:sp>
        <p:nvSpPr>
          <p:cNvPr id="12" name="Stat card Duplicate rows"/>
          <p:cNvSpPr/>
          <p:nvPr/>
        </p:nvSpPr>
        <p:spPr>
          <a:xfrm>
            <a:off x="2560320" y="237744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EEF5FC"/>
          </a:solidFill>
          <a:ln/>
        </p:spPr>
      </p:sp>
      <p:sp>
        <p:nvSpPr>
          <p:cNvPr id="13" name="Stat value Duplicate rows"/>
          <p:cNvSpPr txBox="1"/>
          <p:nvPr/>
        </p:nvSpPr>
        <p:spPr>
          <a:xfrm>
            <a:off x="2560320" y="2468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</a:rPr>
              <a:t>0</a:t>
            </a:r>
            <a:endParaRPr lang="en-US" sz="2800" dirty="0"/>
          </a:p>
        </p:txBody>
      </p:sp>
      <p:sp>
        <p:nvSpPr>
          <p:cNvPr id="14" name="Stat label Duplicate rows"/>
          <p:cNvSpPr txBox="1"/>
          <p:nvPr/>
        </p:nvSpPr>
        <p:spPr>
          <a:xfrm>
            <a:off x="2560320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Duplicate rows</a:t>
            </a:r>
            <a:endParaRPr lang="en-US" sz="1200" dirty="0"/>
          </a:p>
        </p:txBody>
      </p:sp>
      <p:sp>
        <p:nvSpPr>
          <p:cNvPr id="15" name="Dataset strip"/>
          <p:cNvSpPr/>
          <p:nvPr/>
        </p:nvSpPr>
        <p:spPr>
          <a:xfrm>
            <a:off x="457200" y="3611880"/>
            <a:ext cx="4069080" cy="822960"/>
          </a:xfrm>
          <a:prstGeom prst="roundRect">
            <a:avLst>
              <a:gd name="adj" fmla="val 13333"/>
            </a:avLst>
          </a:prstGeom>
          <a:solidFill>
            <a:srgbClr val="DCEBFA"/>
          </a:solidFill>
          <a:ln/>
        </p:spPr>
      </p:sp>
      <p:sp>
        <p:nvSpPr>
          <p:cNvPr id="16" name="Dataset text"/>
          <p:cNvSpPr txBox="1"/>
          <p:nvPr/>
        </p:nvSpPr>
        <p:spPr>
          <a:xfrm>
            <a:off x="640080" y="3657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Dataset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IBM Telco Customer Churn</a:t>
            </a:r>
            <a:endParaRPr lang="en-US" sz="1100" dirty="0"/>
          </a:p>
        </p:txBody>
      </p:sp>
      <p:sp>
        <p:nvSpPr>
          <p:cNvPr id="17" name="Missing values card"/>
          <p:cNvSpPr/>
          <p:nvPr/>
        </p:nvSpPr>
        <p:spPr>
          <a:xfrm>
            <a:off x="4800600" y="1188720"/>
            <a:ext cx="3886200" cy="3246120"/>
          </a:xfrm>
          <a:prstGeom prst="roundRect">
            <a:avLst>
              <a:gd name="adj" fmla="val 3380"/>
            </a:avLst>
          </a:prstGeom>
          <a:solidFill>
            <a:srgbClr val="FCE8EF"/>
          </a:solidFill>
          <a:ln/>
        </p:spPr>
      </p:sp>
      <p:sp>
        <p:nvSpPr>
          <p:cNvPr id="18" name="Missing value"/>
          <p:cNvSpPr txBox="1"/>
          <p:nvPr/>
        </p:nvSpPr>
        <p:spPr>
          <a:xfrm>
            <a:off x="5029200" y="13258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tx2"/>
                </a:solidFill>
              </a:rPr>
              <a:t>11</a:t>
            </a:r>
            <a:endParaRPr lang="en-US" sz="5400" dirty="0"/>
          </a:p>
        </p:txBody>
      </p:sp>
      <p:sp>
        <p:nvSpPr>
          <p:cNvPr id="19" name="Missing label"/>
          <p:cNvSpPr txBox="1"/>
          <p:nvPr/>
        </p:nvSpPr>
        <p:spPr>
          <a:xfrm>
            <a:off x="5029200" y="2194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Missing TotalCharges values</a:t>
            </a:r>
            <a:endParaRPr lang="en-US" sz="1600" dirty="0"/>
          </a:p>
        </p:txBody>
      </p:sp>
      <p:sp>
        <p:nvSpPr>
          <p:cNvPr id="20" name="Missing explanation"/>
          <p:cNvSpPr txBox="1"/>
          <p:nvPr/>
        </p:nvSpPr>
        <p:spPr>
          <a:xfrm>
            <a:off x="5029200" y="2651760"/>
            <a:ext cx="3429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Identified during validation. These records should not be silently deleted; any handling decision should be documented and the original rows preserved.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Churn by Contract Type</a:t>
            </a:r>
            <a:endParaRPr lang="en-US" sz="2800" dirty="0"/>
          </a:p>
        </p:txBody>
      </p:sp>
      <p:graphicFrame>
        <p:nvGraphicFramePr>
          <p:cNvPr id="3" name="Contract churn chart"/>
          <p:cNvGraphicFramePr/>
          <p:nvPr/>
        </p:nvGraphicFramePr>
        <p:xfrm>
          <a:off x="457200" y="1143000"/>
          <a:ext cx="45720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ontrac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188720"/>
          <a:ext cx="3474720" cy="14630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Contract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Churned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Month-to-month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3,875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1,655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42.71%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One year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1,473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166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11.27%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Two year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1,695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2.83%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Insight card"/>
          <p:cNvSpPr/>
          <p:nvPr/>
        </p:nvSpPr>
        <p:spPr>
          <a:xfrm>
            <a:off x="5212080" y="283464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FCE8EF"/>
          </a:solidFill>
          <a:ln/>
        </p:spPr>
      </p:sp>
      <p:sp>
        <p:nvSpPr>
          <p:cNvPr id="4" name="Insight text"/>
          <p:cNvSpPr txBox="1"/>
          <p:nvPr/>
        </p:nvSpPr>
        <p:spPr>
          <a:xfrm>
            <a:off x="5349240" y="28986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Key insight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Month-to-month customers have the highest observed churn rate.</a:t>
            </a:r>
            <a:endParaRPr lang="en-US" sz="1100" dirty="0"/>
          </a:p>
        </p:txBody>
      </p:sp>
      <p:sp>
        <p:nvSpPr>
          <p:cNvPr id="7" name="Interpretation strip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EF5FC"/>
          </a:solidFill>
          <a:ln/>
        </p:spPr>
      </p:sp>
      <p:sp>
        <p:nvSpPr>
          <p:cNvPr id="8" name="Interpretation text"/>
          <p:cNvSpPr txBox="1"/>
          <p:nvPr/>
        </p:nvSpPr>
        <p:spPr>
          <a:xfrm>
            <a:off x="640080" y="409651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Month-to-month customers account for 1,655 of the 1,869 churned customers. Longer-contract incentives are worth testing, but contract type alone is not proven to cause churn.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Churn by Customer Tenure</a:t>
            </a:r>
            <a:endParaRPr lang="en-US" sz="2800" dirty="0"/>
          </a:p>
        </p:txBody>
      </p:sp>
      <p:graphicFrame>
        <p:nvGraphicFramePr>
          <p:cNvPr id="3" name="Tenure churn chart"/>
          <p:cNvGraphicFramePr/>
          <p:nvPr/>
        </p:nvGraphicFramePr>
        <p:xfrm>
          <a:off x="457200" y="1143000"/>
          <a:ext cx="45720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en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188720"/>
          <a:ext cx="3474720" cy="155448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Tenure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Churned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0–12 months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2,186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1,037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A41"/>
                          </a:solidFill>
                        </a:rPr>
                        <a:t>47.44%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13–24 months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1,024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294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28.71%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25–48 months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1,594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325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20.39%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49–72 months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2,239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213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A41"/>
                          </a:solidFill>
                        </a:rPr>
                        <a:t>9.51%</a:t>
                      </a:r>
                      <a:endParaRPr lang="en-US" sz="1100" dirty="0"/>
                    </a:p>
                  </a:txBody>
                  <a:tcPr marL="54864" marR="54864" marT="0" marB="0" anchor="ctr">
                    <a:lnL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Insight card"/>
          <p:cNvSpPr/>
          <p:nvPr/>
        </p:nvSpPr>
        <p:spPr>
          <a:xfrm>
            <a:off x="5212080" y="2926080"/>
            <a:ext cx="3474720" cy="1005840"/>
          </a:xfrm>
          <a:prstGeom prst="roundRect">
            <a:avLst>
              <a:gd name="adj" fmla="val 10909"/>
            </a:avLst>
          </a:prstGeom>
          <a:solidFill>
            <a:srgbClr val="FCE8EF"/>
          </a:solidFill>
          <a:ln/>
        </p:spPr>
      </p:sp>
      <p:sp>
        <p:nvSpPr>
          <p:cNvPr id="6" name="Insight text"/>
          <p:cNvSpPr txBox="1"/>
          <p:nvPr/>
        </p:nvSpPr>
        <p:spPr>
          <a:xfrm>
            <a:off x="5349240" y="29718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Key insight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Shorter tenure shows higher observed churn. Early engagement deserves attention.</a:t>
            </a:r>
            <a:endParaRPr lang="en-US" sz="1100" dirty="0"/>
          </a:p>
        </p:txBody>
      </p:sp>
      <p:sp>
        <p:nvSpPr>
          <p:cNvPr id="4" name="Interpretation strip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EF5FC"/>
          </a:solidFill>
          <a:ln/>
        </p:spPr>
      </p:sp>
      <p:sp>
        <p:nvSpPr>
          <p:cNvPr id="8" name="Interpretation text"/>
          <p:cNvSpPr txBox="1"/>
          <p:nvPr/>
        </p:nvSpPr>
        <p:spPr>
          <a:xfrm>
            <a:off x="640080" y="409651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1,037 of the 1,869 churned customers were in their first 12 months. This supports onboarding and early check-ins, though it does not prove why customers leave.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Monthly Charges &amp; Customer Segments</a:t>
            </a:r>
            <a:endParaRPr lang="en-US" sz="2800" dirty="0"/>
          </a:p>
        </p:txBody>
      </p:sp>
      <p:graphicFrame>
        <p:nvGraphicFramePr>
          <p:cNvPr id="3" name="Monthly charges chart"/>
          <p:cNvGraphicFramePr/>
          <p:nvPr/>
        </p:nvGraphicFramePr>
        <p:xfrm>
          <a:off x="457200" y="1143000"/>
          <a:ext cx="457200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egments label"/>
          <p:cNvSpPr txBox="1"/>
          <p:nvPr/>
        </p:nvSpPr>
        <p:spPr>
          <a:xfrm>
            <a:off x="5303520" y="11430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SEGMENTS TO INVESTIGATE</a:t>
            </a:r>
            <a:endParaRPr lang="en-US" sz="1200" dirty="0"/>
          </a:p>
        </p:txBody>
      </p:sp>
      <p:sp>
        <p:nvSpPr>
          <p:cNvPr id="5" name="Segment card Electronic check users"/>
          <p:cNvSpPr/>
          <p:nvPr/>
        </p:nvSpPr>
        <p:spPr>
          <a:xfrm>
            <a:off x="5303520" y="150876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CE8EF"/>
          </a:solidFill>
          <a:ln/>
        </p:spPr>
      </p:sp>
      <p:sp>
        <p:nvSpPr>
          <p:cNvPr id="6" name="Segment value Electronic check users"/>
          <p:cNvSpPr txBox="1"/>
          <p:nvPr/>
        </p:nvSpPr>
        <p:spPr>
          <a:xfrm>
            <a:off x="5440680" y="1600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45.29%</a:t>
            </a:r>
            <a:endParaRPr lang="en-US" sz="2800" dirty="0"/>
          </a:p>
        </p:txBody>
      </p:sp>
      <p:sp>
        <p:nvSpPr>
          <p:cNvPr id="7" name="Segment label Electronic check users"/>
          <p:cNvSpPr txBox="1"/>
          <p:nvPr/>
        </p:nvSpPr>
        <p:spPr>
          <a:xfrm>
            <a:off x="6858000" y="16002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Electronic check users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churn rate</a:t>
            </a:r>
            <a:endParaRPr lang="en-US" sz="1400" dirty="0"/>
          </a:p>
        </p:txBody>
      </p:sp>
      <p:sp>
        <p:nvSpPr>
          <p:cNvPr id="8" name="Segment card Fiber-optic customers"/>
          <p:cNvSpPr/>
          <p:nvPr/>
        </p:nvSpPr>
        <p:spPr>
          <a:xfrm>
            <a:off x="5303520" y="2743200"/>
            <a:ext cx="3383280" cy="1097280"/>
          </a:xfrm>
          <a:prstGeom prst="roundRect">
            <a:avLst>
              <a:gd name="adj" fmla="val 10000"/>
            </a:avLst>
          </a:prstGeom>
          <a:solidFill>
            <a:srgbClr val="FCE8EF"/>
          </a:solidFill>
          <a:ln/>
        </p:spPr>
      </p:sp>
      <p:sp>
        <p:nvSpPr>
          <p:cNvPr id="9" name="Segment value Fiber-optic customers"/>
          <p:cNvSpPr txBox="1"/>
          <p:nvPr/>
        </p:nvSpPr>
        <p:spPr>
          <a:xfrm>
            <a:off x="5440680" y="28346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41.89%</a:t>
            </a:r>
            <a:endParaRPr lang="en-US" sz="2800" dirty="0"/>
          </a:p>
        </p:txBody>
      </p:sp>
      <p:sp>
        <p:nvSpPr>
          <p:cNvPr id="10" name="Segment label Fiber-optic customers"/>
          <p:cNvSpPr txBox="1"/>
          <p:nvPr/>
        </p:nvSpPr>
        <p:spPr>
          <a:xfrm>
            <a:off x="6858000" y="2834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Fiber-optic customers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churn rate</a:t>
            </a:r>
            <a:endParaRPr lang="en-US" sz="1400" dirty="0"/>
          </a:p>
        </p:txBody>
      </p:sp>
      <p:sp>
        <p:nvSpPr>
          <p:cNvPr id="11" name="Interpretation strip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9355"/>
            </a:avLst>
          </a:prstGeom>
          <a:solidFill>
            <a:srgbClr val="EEF5FC"/>
          </a:solidFill>
          <a:ln/>
        </p:spPr>
      </p:sp>
      <p:sp>
        <p:nvSpPr>
          <p:cNvPr id="12" name="Interpretation text"/>
          <p:cNvSpPr txBox="1"/>
          <p:nvPr/>
        </p:nvSpPr>
        <p:spPr>
          <a:xfrm>
            <a:off x="640080" y="409651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Churned customers pay more on average (74.44 vs 61.27). This is an observed association, not proof that higher prices cause churn.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Business Recommendations</a:t>
            </a:r>
            <a:endParaRPr lang="en-US" sz="2800" dirty="0"/>
          </a:p>
        </p:txBody>
      </p:sp>
      <p:sp>
        <p:nvSpPr>
          <p:cNvPr id="3" name="Recommendation card 1"/>
          <p:cNvSpPr/>
          <p:nvPr/>
        </p:nvSpPr>
        <p:spPr>
          <a:xfrm>
            <a:off x="457200" y="109728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EEF5FC"/>
          </a:solidFill>
          <a:ln/>
        </p:spPr>
      </p:sp>
      <p:sp>
        <p:nvSpPr>
          <p:cNvPr id="4" name="Recommendation number 1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Recommendation title 1"/>
          <p:cNvSpPr txBox="1"/>
          <p:nvPr/>
        </p:nvSpPr>
        <p:spPr>
          <a:xfrm>
            <a:off x="1234440" y="1234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Early Retention</a:t>
            </a:r>
            <a:endParaRPr lang="en-US" sz="1600" dirty="0"/>
          </a:p>
        </p:txBody>
      </p:sp>
      <p:sp>
        <p:nvSpPr>
          <p:cNvPr id="6" name="Recommendation text 1"/>
          <p:cNvSpPr txBox="1"/>
          <p:nvPr/>
        </p:nvSpPr>
        <p:spPr>
          <a:xfrm>
            <a:off x="1234440" y="162763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Contact new customers during their first 12 months and identify dissatisfaction early.</a:t>
            </a:r>
            <a:endParaRPr lang="en-US" sz="1300" dirty="0"/>
          </a:p>
        </p:txBody>
      </p:sp>
      <p:sp>
        <p:nvSpPr>
          <p:cNvPr id="7" name="Recommendation card 2"/>
          <p:cNvSpPr/>
          <p:nvPr/>
        </p:nvSpPr>
        <p:spPr>
          <a:xfrm>
            <a:off x="4663440" y="109728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CE8EF"/>
          </a:solidFill>
          <a:ln/>
        </p:spPr>
      </p:sp>
      <p:sp>
        <p:nvSpPr>
          <p:cNvPr id="8" name="Recommendation number 2"/>
          <p:cNvSpPr/>
          <p:nvPr/>
        </p:nvSpPr>
        <p:spPr>
          <a:xfrm>
            <a:off x="4846320" y="1280160"/>
            <a:ext cx="411480" cy="41148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Recommendation title 2"/>
          <p:cNvSpPr txBox="1"/>
          <p:nvPr/>
        </p:nvSpPr>
        <p:spPr>
          <a:xfrm>
            <a:off x="5440680" y="1234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Contract Incentives</a:t>
            </a:r>
            <a:endParaRPr lang="en-US" sz="1600" dirty="0"/>
          </a:p>
        </p:txBody>
      </p:sp>
      <p:sp>
        <p:nvSpPr>
          <p:cNvPr id="10" name="Recommendation text 2"/>
          <p:cNvSpPr txBox="1"/>
          <p:nvPr/>
        </p:nvSpPr>
        <p:spPr>
          <a:xfrm>
            <a:off x="5440680" y="162763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Test transparent discounts or benefits that encourage suitable customers to choose longer contracts.</a:t>
            </a:r>
            <a:endParaRPr lang="en-US" sz="1300" dirty="0"/>
          </a:p>
        </p:txBody>
      </p:sp>
      <p:sp>
        <p:nvSpPr>
          <p:cNvPr id="11" name="Recommendation card 3"/>
          <p:cNvSpPr/>
          <p:nvPr/>
        </p:nvSpPr>
        <p:spPr>
          <a:xfrm>
            <a:off x="457200" y="26517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FCE8EF"/>
          </a:solidFill>
          <a:ln/>
        </p:spPr>
      </p:sp>
      <p:sp>
        <p:nvSpPr>
          <p:cNvPr id="12" name="Recommendation number 3"/>
          <p:cNvSpPr/>
          <p:nvPr/>
        </p:nvSpPr>
        <p:spPr>
          <a:xfrm>
            <a:off x="640080" y="2834640"/>
            <a:ext cx="411480" cy="41148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Recommendation title 3"/>
          <p:cNvSpPr txBox="1"/>
          <p:nvPr/>
        </p:nvSpPr>
        <p:spPr>
          <a:xfrm>
            <a:off x="123444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Service Improvement</a:t>
            </a:r>
            <a:endParaRPr lang="en-US" sz="1600" dirty="0"/>
          </a:p>
        </p:txBody>
      </p:sp>
      <p:sp>
        <p:nvSpPr>
          <p:cNvPr id="14" name="Recommendation text 3"/>
          <p:cNvSpPr txBox="1"/>
          <p:nvPr/>
        </p:nvSpPr>
        <p:spPr>
          <a:xfrm>
            <a:off x="1234440" y="318211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Investigate customer feedback and support issues in high-churn service segments.</a:t>
            </a:r>
            <a:endParaRPr lang="en-US" sz="1300" dirty="0"/>
          </a:p>
        </p:txBody>
      </p:sp>
      <p:sp>
        <p:nvSpPr>
          <p:cNvPr id="15" name="Recommendation card 4"/>
          <p:cNvSpPr/>
          <p:nvPr/>
        </p:nvSpPr>
        <p:spPr>
          <a:xfrm>
            <a:off x="4663440" y="265176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EEF5FC"/>
          </a:solidFill>
          <a:ln/>
        </p:spPr>
      </p:sp>
      <p:sp>
        <p:nvSpPr>
          <p:cNvPr id="16" name="Recommendation number 4"/>
          <p:cNvSpPr/>
          <p:nvPr/>
        </p:nvSpPr>
        <p:spPr>
          <a:xfrm>
            <a:off x="4846320" y="2834640"/>
            <a:ext cx="411480" cy="411480"/>
          </a:xfrm>
          <a:prstGeom prst="ellipse">
            <a:avLst/>
          </a:prstGeom>
          <a:solidFill>
            <a:srgbClr val="14284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Recommendation title 4"/>
          <p:cNvSpPr txBox="1"/>
          <p:nvPr/>
        </p:nvSpPr>
        <p:spPr>
          <a:xfrm>
            <a:off x="544068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Payment Experience</a:t>
            </a:r>
            <a:endParaRPr lang="en-US" sz="1600" dirty="0"/>
          </a:p>
        </p:txBody>
      </p:sp>
      <p:sp>
        <p:nvSpPr>
          <p:cNvPr id="18" name="Recommendation text 4"/>
          <p:cNvSpPr txBox="1"/>
          <p:nvPr/>
        </p:nvSpPr>
        <p:spPr>
          <a:xfrm>
            <a:off x="5440680" y="3182112"/>
            <a:ext cx="3063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Review payment-related friction and provide convenient payment options.</a:t>
            </a:r>
            <a:endParaRPr lang="en-US" sz="1300" dirty="0"/>
          </a:p>
        </p:txBody>
      </p:sp>
      <p:sp>
        <p:nvSpPr>
          <p:cNvPr id="19" name="Caveat strip"/>
          <p:cNvSpPr/>
          <p:nvPr/>
        </p:nvSpPr>
        <p:spPr>
          <a:xfrm>
            <a:off x="457200" y="4224528"/>
            <a:ext cx="8229600" cy="411480"/>
          </a:xfrm>
          <a:prstGeom prst="roundRect">
            <a:avLst>
              <a:gd name="adj" fmla="val 26667"/>
            </a:avLst>
          </a:prstGeom>
          <a:solidFill>
            <a:srgbClr val="DCEBFA"/>
          </a:solidFill>
          <a:ln/>
        </p:spPr>
      </p:sp>
      <p:sp>
        <p:nvSpPr>
          <p:cNvPr id="20" name="Caveat text"/>
          <p:cNvSpPr txBox="1"/>
          <p:nvPr/>
        </p:nvSpPr>
        <p:spPr>
          <a:xfrm>
            <a:off x="640080" y="4242816"/>
            <a:ext cx="7863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Based on observed patterns; test before broad implementation.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Power BI Dashboard</a:t>
            </a:r>
            <a:endParaRPr lang="en-US" sz="2800" dirty="0"/>
          </a:p>
        </p:txBody>
      </p:sp>
      <p:sp>
        <p:nvSpPr>
          <p:cNvPr id="3" name="Screenshot placeholder frame"/>
          <p:cNvSpPr/>
          <p:nvPr/>
        </p:nvSpPr>
        <p:spPr>
          <a:xfrm>
            <a:off x="457200" y="1097280"/>
            <a:ext cx="4937760" cy="3429000"/>
          </a:xfrm>
          <a:prstGeom prst="roundRect">
            <a:avLst>
              <a:gd name="adj" fmla="val 3200"/>
            </a:avLst>
          </a:prstGeom>
          <a:solidFill>
            <a:srgbClr val="EEF5FC"/>
          </a:solidFill>
          <a:ln w="19050">
            <a:solidFill>
              <a:srgbClr val="3B73B9"/>
            </a:solidFill>
            <a:prstDash val="dash"/>
          </a:ln>
        </p:spPr>
      </p:sp>
      <p:sp>
        <p:nvSpPr>
          <p:cNvPr id="5" name="Contents label"/>
          <p:cNvSpPr txBox="1"/>
          <p:nvPr/>
        </p:nvSpPr>
        <p:spPr>
          <a:xfrm>
            <a:off x="5669280" y="1097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4"/>
                </a:solidFill>
              </a:rPr>
              <a:t>EXECUTIVE OVERVIEW CONTENTS</a:t>
            </a:r>
            <a:endParaRPr lang="en-US" sz="1200" dirty="0"/>
          </a:p>
        </p:txBody>
      </p:sp>
      <p:sp>
        <p:nvSpPr>
          <p:cNvPr id="6" name="Contents card 1"/>
          <p:cNvSpPr/>
          <p:nvPr/>
        </p:nvSpPr>
        <p:spPr>
          <a:xfrm>
            <a:off x="5669280" y="1463040"/>
            <a:ext cx="3017520" cy="530352"/>
          </a:xfrm>
          <a:prstGeom prst="roundRect">
            <a:avLst>
              <a:gd name="adj" fmla="val 20690"/>
            </a:avLst>
          </a:prstGeom>
          <a:solidFill>
            <a:srgbClr val="EEF5FC"/>
          </a:solidFill>
          <a:ln/>
        </p:spPr>
      </p:sp>
      <p:sp>
        <p:nvSpPr>
          <p:cNvPr id="7" name="Contents text 1"/>
          <p:cNvSpPr txBox="1"/>
          <p:nvPr/>
        </p:nvSpPr>
        <p:spPr>
          <a:xfrm>
            <a:off x="5806440" y="146304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5 KPI cards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Customers, churn, retention</a:t>
            </a:r>
            <a:endParaRPr lang="en-US" sz="1300" dirty="0"/>
          </a:p>
        </p:txBody>
      </p:sp>
      <p:sp>
        <p:nvSpPr>
          <p:cNvPr id="8" name="Contents card 2"/>
          <p:cNvSpPr/>
          <p:nvPr/>
        </p:nvSpPr>
        <p:spPr>
          <a:xfrm>
            <a:off x="5669280" y="2075688"/>
            <a:ext cx="3017520" cy="530352"/>
          </a:xfrm>
          <a:prstGeom prst="roundRect">
            <a:avLst>
              <a:gd name="adj" fmla="val 20690"/>
            </a:avLst>
          </a:prstGeom>
          <a:solidFill>
            <a:srgbClr val="EEF5FC"/>
          </a:solidFill>
          <a:ln/>
        </p:spPr>
      </p:sp>
      <p:sp>
        <p:nvSpPr>
          <p:cNvPr id="9" name="Contents text 2"/>
          <p:cNvSpPr txBox="1"/>
          <p:nvPr/>
        </p:nvSpPr>
        <p:spPr>
          <a:xfrm>
            <a:off x="5806440" y="2075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Churn by contract type</a:t>
            </a:r>
            <a:endParaRPr lang="en-US" sz="1300" dirty="0"/>
          </a:p>
        </p:txBody>
      </p:sp>
      <p:sp>
        <p:nvSpPr>
          <p:cNvPr id="10" name="Contents card 3"/>
          <p:cNvSpPr/>
          <p:nvPr/>
        </p:nvSpPr>
        <p:spPr>
          <a:xfrm>
            <a:off x="5669280" y="2688336"/>
            <a:ext cx="3017520" cy="530352"/>
          </a:xfrm>
          <a:prstGeom prst="roundRect">
            <a:avLst>
              <a:gd name="adj" fmla="val 20690"/>
            </a:avLst>
          </a:prstGeom>
          <a:solidFill>
            <a:srgbClr val="EEF5FC"/>
          </a:solidFill>
          <a:ln/>
        </p:spPr>
      </p:sp>
      <p:sp>
        <p:nvSpPr>
          <p:cNvPr id="11" name="Contents text 3"/>
          <p:cNvSpPr txBox="1"/>
          <p:nvPr/>
        </p:nvSpPr>
        <p:spPr>
          <a:xfrm>
            <a:off x="5806440" y="268833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Churn by tenure group</a:t>
            </a:r>
            <a:endParaRPr lang="en-US" sz="1300" dirty="0"/>
          </a:p>
        </p:txBody>
      </p:sp>
      <p:sp>
        <p:nvSpPr>
          <p:cNvPr id="12" name="Contents card 4"/>
          <p:cNvSpPr/>
          <p:nvPr/>
        </p:nvSpPr>
        <p:spPr>
          <a:xfrm>
            <a:off x="5669280" y="3300984"/>
            <a:ext cx="3017520" cy="530352"/>
          </a:xfrm>
          <a:prstGeom prst="roundRect">
            <a:avLst>
              <a:gd name="adj" fmla="val 20690"/>
            </a:avLst>
          </a:prstGeom>
          <a:solidFill>
            <a:srgbClr val="EEF5FC"/>
          </a:solidFill>
          <a:ln/>
        </p:spPr>
      </p:sp>
      <p:sp>
        <p:nvSpPr>
          <p:cNvPr id="13" name="Contents text 4"/>
          <p:cNvSpPr txBox="1"/>
          <p:nvPr/>
        </p:nvSpPr>
        <p:spPr>
          <a:xfrm>
            <a:off x="5806440" y="330098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Monthly charge segmentation</a:t>
            </a:r>
            <a:endParaRPr lang="en-US" sz="1300" dirty="0"/>
          </a:p>
        </p:txBody>
      </p:sp>
      <p:sp>
        <p:nvSpPr>
          <p:cNvPr id="14" name="Contents card 5"/>
          <p:cNvSpPr/>
          <p:nvPr/>
        </p:nvSpPr>
        <p:spPr>
          <a:xfrm>
            <a:off x="5669280" y="3913632"/>
            <a:ext cx="3017520" cy="530352"/>
          </a:xfrm>
          <a:prstGeom prst="roundRect">
            <a:avLst>
              <a:gd name="adj" fmla="val 20690"/>
            </a:avLst>
          </a:prstGeom>
          <a:solidFill>
            <a:srgbClr val="FCE8EF"/>
          </a:solidFill>
          <a:ln/>
        </p:spPr>
      </p:sp>
      <p:sp>
        <p:nvSpPr>
          <p:cNvPr id="15" name="Contents text 5"/>
          <p:cNvSpPr txBox="1"/>
          <p:nvPr/>
        </p:nvSpPr>
        <p:spPr>
          <a:xfrm>
            <a:off x="5806440" y="3913632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Interactive slicers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chemeClr val="tx1"/>
                </a:solidFill>
              </a:rPr>
              <a:t>Contract, Internet Service, Gender, Tenure Group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BB08D3-682E-31AE-F631-F5DF36FB1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28" y="1353312"/>
            <a:ext cx="4819104" cy="29188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 &amp; Next Steps</a:t>
            </a:r>
            <a:endParaRPr lang="en-US" sz="2800" dirty="0"/>
          </a:p>
        </p:txBody>
      </p:sp>
      <p:sp>
        <p:nvSpPr>
          <p:cNvPr id="3" name="Finding card 1"/>
          <p:cNvSpPr/>
          <p:nvPr/>
        </p:nvSpPr>
        <p:spPr>
          <a:xfrm>
            <a:off x="457200" y="109728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EEF5FC"/>
          </a:solidFill>
          <a:ln/>
        </p:spPr>
      </p:sp>
      <p:sp>
        <p:nvSpPr>
          <p:cNvPr id="4" name="Finding value 1"/>
          <p:cNvSpPr txBox="1"/>
          <p:nvPr/>
        </p:nvSpPr>
        <p:spPr>
          <a:xfrm>
            <a:off x="548640" y="12070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26.54%</a:t>
            </a:r>
            <a:endParaRPr lang="en-US" sz="2600" dirty="0"/>
          </a:p>
        </p:txBody>
      </p:sp>
      <p:sp>
        <p:nvSpPr>
          <p:cNvPr id="5" name="Finding label 1"/>
          <p:cNvSpPr txBox="1"/>
          <p:nvPr/>
        </p:nvSpPr>
        <p:spPr>
          <a:xfrm>
            <a:off x="548640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Overall churn rate</a:t>
            </a:r>
            <a:endParaRPr lang="en-US" sz="1200" dirty="0"/>
          </a:p>
        </p:txBody>
      </p:sp>
      <p:sp>
        <p:nvSpPr>
          <p:cNvPr id="6" name="Finding card 2"/>
          <p:cNvSpPr/>
          <p:nvPr/>
        </p:nvSpPr>
        <p:spPr>
          <a:xfrm>
            <a:off x="2926080" y="109728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EEF5FC"/>
          </a:solidFill>
          <a:ln/>
        </p:spPr>
      </p:sp>
      <p:sp>
        <p:nvSpPr>
          <p:cNvPr id="7" name="Finding value 2"/>
          <p:cNvSpPr txBox="1"/>
          <p:nvPr/>
        </p:nvSpPr>
        <p:spPr>
          <a:xfrm>
            <a:off x="3017520" y="12070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42.71%</a:t>
            </a:r>
            <a:endParaRPr lang="en-US" sz="2600" dirty="0"/>
          </a:p>
        </p:txBody>
      </p:sp>
      <p:sp>
        <p:nvSpPr>
          <p:cNvPr id="8" name="Finding label 2"/>
          <p:cNvSpPr txBox="1"/>
          <p:nvPr/>
        </p:nvSpPr>
        <p:spPr>
          <a:xfrm>
            <a:off x="3017520" y="1737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Month-to-month churn</a:t>
            </a:r>
            <a:endParaRPr lang="en-US" sz="1200" dirty="0"/>
          </a:p>
        </p:txBody>
      </p:sp>
      <p:sp>
        <p:nvSpPr>
          <p:cNvPr id="9" name="Finding card 3"/>
          <p:cNvSpPr/>
          <p:nvPr/>
        </p:nvSpPr>
        <p:spPr>
          <a:xfrm>
            <a:off x="457200" y="242316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EEF5FC"/>
          </a:solidFill>
          <a:ln/>
        </p:spPr>
      </p:sp>
      <p:sp>
        <p:nvSpPr>
          <p:cNvPr id="10" name="Finding value 3"/>
          <p:cNvSpPr txBox="1"/>
          <p:nvPr/>
        </p:nvSpPr>
        <p:spPr>
          <a:xfrm>
            <a:off x="548640" y="25328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47.44%</a:t>
            </a:r>
            <a:endParaRPr lang="en-US" sz="2600" dirty="0"/>
          </a:p>
        </p:txBody>
      </p:sp>
      <p:sp>
        <p:nvSpPr>
          <p:cNvPr id="11" name="Finding label 3"/>
          <p:cNvSpPr txBox="1"/>
          <p:nvPr/>
        </p:nvSpPr>
        <p:spPr>
          <a:xfrm>
            <a:off x="54864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First 12 months churn</a:t>
            </a:r>
            <a:endParaRPr lang="en-US" sz="1200" dirty="0"/>
          </a:p>
        </p:txBody>
      </p:sp>
      <p:sp>
        <p:nvSpPr>
          <p:cNvPr id="12" name="Finding card 4"/>
          <p:cNvSpPr/>
          <p:nvPr/>
        </p:nvSpPr>
        <p:spPr>
          <a:xfrm>
            <a:off x="2926080" y="242316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FCE8EF"/>
          </a:solidFill>
          <a:ln/>
        </p:spPr>
      </p:sp>
      <p:sp>
        <p:nvSpPr>
          <p:cNvPr id="13" name="Finding value 4"/>
          <p:cNvSpPr txBox="1"/>
          <p:nvPr/>
        </p:nvSpPr>
        <p:spPr>
          <a:xfrm>
            <a:off x="3017520" y="25328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74.44 vs 61.27</a:t>
            </a:r>
            <a:endParaRPr lang="en-US" sz="1900" dirty="0"/>
          </a:p>
        </p:txBody>
      </p:sp>
      <p:sp>
        <p:nvSpPr>
          <p:cNvPr id="14" name="Finding label 4"/>
          <p:cNvSpPr txBox="1"/>
          <p:nvPr/>
        </p:nvSpPr>
        <p:spPr>
          <a:xfrm>
            <a:off x="301752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Avg monthly charges: churned vs retained</a:t>
            </a:r>
            <a:endParaRPr lang="en-US" sz="1200" dirty="0"/>
          </a:p>
        </p:txBody>
      </p:sp>
      <p:sp>
        <p:nvSpPr>
          <p:cNvPr id="15" name="Takeaway card"/>
          <p:cNvSpPr/>
          <p:nvPr/>
        </p:nvSpPr>
        <p:spPr>
          <a:xfrm>
            <a:off x="5486400" y="1097280"/>
            <a:ext cx="3200400" cy="2514600"/>
          </a:xfrm>
          <a:prstGeom prst="roundRect">
            <a:avLst>
              <a:gd name="adj" fmla="val 4364"/>
            </a:avLst>
          </a:prstGeom>
          <a:solidFill>
            <a:srgbClr val="14284B"/>
          </a:solidFill>
          <a:ln/>
        </p:spPr>
      </p:sp>
      <p:sp>
        <p:nvSpPr>
          <p:cNvPr id="16" name="Takeaway text"/>
          <p:cNvSpPr txBox="1"/>
          <p:nvPr/>
        </p:nvSpPr>
        <p:spPr>
          <a:xfrm>
            <a:off x="5715000" y="1280160"/>
            <a:ext cx="2743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9CC9EE"/>
                </a:solidFill>
              </a:rPr>
              <a:t>Takeaway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Customer segmentation and early retention initiatives can help the business prioritize retention efforts.</a:t>
            </a:r>
            <a:endParaRPr lang="en-US" sz="1200" dirty="0"/>
          </a:p>
        </p:txBody>
      </p:sp>
      <p:sp>
        <p:nvSpPr>
          <p:cNvPr id="17" name="Thank you pill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CE8EF"/>
          </a:solidFill>
          <a:ln/>
        </p:spPr>
      </p:sp>
      <p:sp>
        <p:nvSpPr>
          <p:cNvPr id="18" name="Thank you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365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 Analytics">
  <a:themeElements>
    <a:clrScheme name="Churn Analytics">
      <a:dk1>
        <a:srgbClr val="1B2A41"/>
      </a:dk1>
      <a:lt1>
        <a:srgbClr val="FFFFFF"/>
      </a:lt1>
      <a:dk2>
        <a:srgbClr val="14284B"/>
      </a:dk2>
      <a:lt2>
        <a:srgbClr val="EEF5FC"/>
      </a:lt2>
      <a:accent1>
        <a:srgbClr val="1F3A68"/>
      </a:accent1>
      <a:accent2>
        <a:srgbClr val="9CC9EE"/>
      </a:accent2>
      <a:accent3>
        <a:srgbClr val="F4B6CB"/>
      </a:accent3>
      <a:accent4>
        <a:srgbClr val="3B73B9"/>
      </a:accent4>
      <a:accent5>
        <a:srgbClr val="DCEBFA"/>
      </a:accent5>
      <a:accent6>
        <a:srgbClr val="FCE8EF"/>
      </a:accent6>
      <a:hlink>
        <a:srgbClr val="3B73B9"/>
      </a:hlink>
      <a:folHlink>
        <a:srgbClr val="7A6FA8"/>
      </a:folHlink>
    </a:clrScheme>
    <a:fontScheme name="Churn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864</Words>
  <Application>Microsoft Office PowerPoint</Application>
  <PresentationFormat>On-screen Show (16:9)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Churn Analytics</vt:lpstr>
      <vt:lpstr>PowerPoint Presentation</vt:lpstr>
      <vt:lpstr>Executive Summary</vt:lpstr>
      <vt:lpstr>Project Objectives &amp; Workflow</vt:lpstr>
      <vt:lpstr>Dataset &amp; Data Quality</vt:lpstr>
      <vt:lpstr>Churn by Contract Type</vt:lpstr>
      <vt:lpstr>Churn by Customer Tenure</vt:lpstr>
      <vt:lpstr>Monthly Charges &amp; Customer Segments</vt:lpstr>
      <vt:lpstr>Business Recommendations</vt:lpstr>
      <vt:lpstr>Power BI Dashboard</vt:lpstr>
      <vt:lpstr>Conclusion &amp;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&amp; Retention Analytics</dc:title>
  <dc:subject>PptxGenJS Presentation</dc:subject>
  <dc:creator>Virender Sahu</dc:creator>
  <cp:lastModifiedBy>Virender Sahu</cp:lastModifiedBy>
  <cp:revision>2</cp:revision>
  <dcterms:created xsi:type="dcterms:W3CDTF">2026-10-24T18:43:58Z</dcterms:created>
  <dcterms:modified xsi:type="dcterms:W3CDTF">2026-10-24T18:51:29Z</dcterms:modified>
</cp:coreProperties>
</file>